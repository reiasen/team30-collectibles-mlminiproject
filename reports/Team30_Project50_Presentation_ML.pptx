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793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1pPr>
    <a:lvl2pPr marL="0" marR="0" indent="457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2pPr>
    <a:lvl3pPr marL="0" marR="0" indent="914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3pPr>
    <a:lvl4pPr marL="0" marR="0" indent="1371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4pPr>
    <a:lvl5pPr marL="0" marR="0" indent="18288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5pPr>
    <a:lvl6pPr marL="0" marR="0" indent="22860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6pPr>
    <a:lvl7pPr marL="0" marR="0" indent="2743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7pPr>
    <a:lvl8pPr marL="0" marR="0" indent="3200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8pPr>
    <a:lvl9pPr marL="0" marR="0" indent="3657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 b="def" i="def"/>
      <a:tcStyle>
        <a:tcBdr/>
        <a:fill>
          <a:solidFill>
            <a:srgbClr val="E8ECF4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 b="def" i="def"/>
      <a:tcStyle>
        <a:tcBdr/>
        <a:fill>
          <a:solidFill>
            <a:srgbClr val="EFF3E9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 b="def" i="def"/>
      <a:tcStyle>
        <a:tcBdr/>
        <a:fill>
          <a:solidFill>
            <a:srgbClr val="FDEE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92" name="Shape 92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defRPr sz="1200">
        <a:latin typeface="+mn-lt"/>
        <a:ea typeface="+mn-ea"/>
        <a:cs typeface="+mn-cs"/>
        <a:sym typeface="Calibri"/>
      </a:defRPr>
    </a:lvl1pPr>
    <a:lvl2pPr indent="228600" defTabSz="457200" latinLnBrk="0">
      <a:defRPr sz="1200">
        <a:latin typeface="+mn-lt"/>
        <a:ea typeface="+mn-ea"/>
        <a:cs typeface="+mn-cs"/>
        <a:sym typeface="Calibri"/>
      </a:defRPr>
    </a:lvl2pPr>
    <a:lvl3pPr indent="457200" defTabSz="457200" latinLnBrk="0">
      <a:defRPr sz="1200">
        <a:latin typeface="+mn-lt"/>
        <a:ea typeface="+mn-ea"/>
        <a:cs typeface="+mn-cs"/>
        <a:sym typeface="Calibri"/>
      </a:defRPr>
    </a:lvl3pPr>
    <a:lvl4pPr indent="685800" defTabSz="457200" latinLnBrk="0">
      <a:defRPr sz="1200">
        <a:latin typeface="+mn-lt"/>
        <a:ea typeface="+mn-ea"/>
        <a:cs typeface="+mn-cs"/>
        <a:sym typeface="Calibri"/>
      </a:defRPr>
    </a:lvl4pPr>
    <a:lvl5pPr indent="914400" defTabSz="457200" latinLnBrk="0">
      <a:defRPr sz="1200">
        <a:latin typeface="+mn-lt"/>
        <a:ea typeface="+mn-ea"/>
        <a:cs typeface="+mn-cs"/>
        <a:sym typeface="Calibri"/>
      </a:defRPr>
    </a:lvl5pPr>
    <a:lvl6pPr indent="1143000" defTabSz="457200" latinLnBrk="0">
      <a:defRPr sz="1200">
        <a:latin typeface="+mn-lt"/>
        <a:ea typeface="+mn-ea"/>
        <a:cs typeface="+mn-cs"/>
        <a:sym typeface="Calibri"/>
      </a:defRPr>
    </a:lvl6pPr>
    <a:lvl7pPr indent="1371600" defTabSz="457200" latinLnBrk="0">
      <a:defRPr sz="1200">
        <a:latin typeface="+mn-lt"/>
        <a:ea typeface="+mn-ea"/>
        <a:cs typeface="+mn-cs"/>
        <a:sym typeface="Calibri"/>
      </a:defRPr>
    </a:lvl7pPr>
    <a:lvl8pPr indent="1600200" defTabSz="457200" latinLnBrk="0">
      <a:defRPr sz="1200">
        <a:latin typeface="+mn-lt"/>
        <a:ea typeface="+mn-ea"/>
        <a:cs typeface="+mn-cs"/>
        <a:sym typeface="Calibri"/>
      </a:defRPr>
    </a:lvl8pPr>
    <a:lvl9pPr indent="1828800" defTabSz="457200" latinLnBrk="0">
      <a:defRPr sz="1200">
        <a:latin typeface="+mn-lt"/>
        <a:ea typeface="+mn-ea"/>
        <a:cs typeface="+mn-cs"/>
        <a:sym typeface="Calibri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/>
          <p:nvPr>
            <p:ph type="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12" name="Body Level One…"/>
          <p:cNvSpPr txBox="1"/>
          <p:nvPr>
            <p:ph type="body" sz="quarter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1pPr>
            <a:lvl2pPr marL="0" indent="457200" algn="ctr">
              <a:buSzTx/>
              <a:buFontTx/>
              <a:buNone/>
              <a:defRPr>
                <a:solidFill>
                  <a:srgbClr val="888888"/>
                </a:solidFill>
              </a:defRPr>
            </a:lvl2pPr>
            <a:lvl3pPr marL="0" indent="914400" algn="ctr">
              <a:buSzTx/>
              <a:buFontTx/>
              <a:buNone/>
              <a:defRPr>
                <a:solidFill>
                  <a:srgbClr val="888888"/>
                </a:solidFill>
              </a:defRPr>
            </a:lvl3pPr>
            <a:lvl4pPr marL="0" indent="1371600" algn="ctr">
              <a:buSzTx/>
              <a:buFontTx/>
              <a:buNone/>
              <a:defRPr>
                <a:solidFill>
                  <a:srgbClr val="888888"/>
                </a:solidFill>
              </a:defRPr>
            </a:lvl4pPr>
            <a:lvl5pPr marL="0" indent="1828800" algn="ctr">
              <a:buSzTx/>
              <a:buFontTx/>
              <a:buNone/>
              <a:defRPr>
                <a:solidFill>
                  <a:srgbClr val="888888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21" name="Body Level One…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Text"/>
          <p:cNvSpPr txBox="1"/>
          <p:nvPr>
            <p:ph type="title"/>
          </p:nvPr>
        </p:nvSpPr>
        <p:spPr>
          <a:xfrm>
            <a:off x="722312" y="4406900"/>
            <a:ext cx="7772401" cy="1362075"/>
          </a:xfrm>
          <a:prstGeom prst="rect">
            <a:avLst/>
          </a:prstGeom>
        </p:spPr>
        <p:txBody>
          <a:bodyPr anchor="t"/>
          <a:lstStyle>
            <a:lvl1pPr algn="l">
              <a:defRPr b="1" cap="all" sz="4000"/>
            </a:lvl1pPr>
          </a:lstStyle>
          <a:p>
            <a:pPr/>
            <a:r>
              <a:t>Title Text</a:t>
            </a:r>
          </a:p>
        </p:txBody>
      </p:sp>
      <p:sp>
        <p:nvSpPr>
          <p:cNvPr id="30" name="Body Level One…"/>
          <p:cNvSpPr txBox="1"/>
          <p:nvPr>
            <p:ph type="body" sz="quarter" idx="1"/>
          </p:nvPr>
        </p:nvSpPr>
        <p:spPr>
          <a:xfrm>
            <a:off x="722312" y="2906713"/>
            <a:ext cx="7772401" cy="1500188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1pPr>
            <a:lvl2pPr marL="0" indent="4572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2pPr>
            <a:lvl3pPr marL="0" indent="9144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3pPr>
            <a:lvl4pPr marL="0" indent="13716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4pPr>
            <a:lvl5pPr marL="0" indent="18288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39" name="Body Level One…"/>
          <p:cNvSpPr txBox="1"/>
          <p:nvPr>
            <p:ph type="body"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defRPr sz="2800"/>
            </a:lvl1pPr>
            <a:lvl2pPr marL="790575" indent="-333375">
              <a:spcBef>
                <a:spcPts val="600"/>
              </a:spcBef>
              <a:defRPr sz="2800"/>
            </a:lvl2pPr>
            <a:lvl3pPr marL="1234439" indent="-320039">
              <a:spcBef>
                <a:spcPts val="600"/>
              </a:spcBef>
              <a:defRPr sz="2800"/>
            </a:lvl3pPr>
            <a:lvl4pPr marL="1727200" indent="-355600">
              <a:spcBef>
                <a:spcPts val="600"/>
              </a:spcBef>
              <a:defRPr sz="2800"/>
            </a:lvl4pPr>
            <a:lvl5pPr marL="2184400" indent="-355600">
              <a:spcBef>
                <a:spcPts val="600"/>
              </a:spcBef>
              <a:defRPr sz="28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48" name="Body Level One…"/>
          <p:cNvSpPr txBox="1"/>
          <p:nvPr>
            <p:ph type="body" sz="quarter" idx="1"/>
          </p:nvPr>
        </p:nvSpPr>
        <p:spPr>
          <a:xfrm>
            <a:off x="457200" y="1535112"/>
            <a:ext cx="4040188" cy="639763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500"/>
              </a:spcBef>
              <a:buSzTx/>
              <a:buFontTx/>
              <a:buNone/>
              <a:defRPr b="1" sz="2400"/>
            </a:lvl1pPr>
            <a:lvl2pPr marL="0" indent="457200">
              <a:spcBef>
                <a:spcPts val="500"/>
              </a:spcBef>
              <a:buSzTx/>
              <a:buFontTx/>
              <a:buNone/>
              <a:defRPr b="1" sz="2400"/>
            </a:lvl2pPr>
            <a:lvl3pPr marL="0" indent="914400">
              <a:spcBef>
                <a:spcPts val="500"/>
              </a:spcBef>
              <a:buSzTx/>
              <a:buFontTx/>
              <a:buNone/>
              <a:defRPr b="1" sz="2400"/>
            </a:lvl3pPr>
            <a:lvl4pPr marL="0" indent="1371600">
              <a:spcBef>
                <a:spcPts val="500"/>
              </a:spcBef>
              <a:buSzTx/>
              <a:buFontTx/>
              <a:buNone/>
              <a:defRPr b="1" sz="2400"/>
            </a:lvl4pPr>
            <a:lvl5pPr marL="0" indent="1828800">
              <a:spcBef>
                <a:spcPts val="500"/>
              </a:spcBef>
              <a:buSzTx/>
              <a:buFontTx/>
              <a:buNone/>
              <a:defRPr b="1" sz="2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9" name="Text Placeholder 4"/>
          <p:cNvSpPr/>
          <p:nvPr>
            <p:ph type="body" sz="quarter" idx="21"/>
          </p:nvPr>
        </p:nvSpPr>
        <p:spPr>
          <a:xfrm>
            <a:off x="4645025" y="1535112"/>
            <a:ext cx="4041775" cy="639763"/>
          </a:xfrm>
          <a:prstGeom prst="rect">
            <a:avLst/>
          </a:prstGeom>
        </p:spPr>
        <p:txBody>
          <a:bodyPr anchor="b"/>
          <a:lstStyle/>
          <a:p>
            <a:pPr marL="0" indent="0">
              <a:spcBef>
                <a:spcPts val="500"/>
              </a:spcBef>
              <a:buSzTx/>
              <a:buFontTx/>
              <a:buNone/>
              <a:defRPr b="1" sz="2400"/>
            </a:pPr>
          </a:p>
        </p:txBody>
      </p:sp>
      <p:sp>
        <p:nvSpPr>
          <p:cNvPr id="5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itle 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5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itle Text"/>
          <p:cNvSpPr txBox="1"/>
          <p:nvPr>
            <p:ph type="title"/>
          </p:nvPr>
        </p:nvSpPr>
        <p:spPr>
          <a:xfrm>
            <a:off x="457200" y="273050"/>
            <a:ext cx="3008314" cy="1162050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Title Text</a:t>
            </a:r>
          </a:p>
        </p:txBody>
      </p:sp>
      <p:sp>
        <p:nvSpPr>
          <p:cNvPr id="73" name="Body Level One…"/>
          <p:cNvSpPr txBox="1"/>
          <p:nvPr>
            <p:ph type="body" sz="half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4" name="Text Placeholder 3"/>
          <p:cNvSpPr/>
          <p:nvPr>
            <p:ph type="body" sz="quarter" idx="21"/>
          </p:nvPr>
        </p:nvSpPr>
        <p:spPr>
          <a:xfrm>
            <a:off x="457199" y="1435100"/>
            <a:ext cx="3008315" cy="4691063"/>
          </a:xfrm>
          <a:prstGeom prst="rect">
            <a:avLst/>
          </a:prstGeom>
        </p:spPr>
        <p:txBody>
          <a:bodyPr/>
          <a:lstStyle/>
          <a:p>
            <a:pPr marL="0" indent="0">
              <a:spcBef>
                <a:spcPts val="300"/>
              </a:spcBef>
              <a:buSzTx/>
              <a:buFontTx/>
              <a:buNone/>
              <a:defRPr sz="1400"/>
            </a:pPr>
          </a:p>
        </p:txBody>
      </p:sp>
      <p:sp>
        <p:nvSpPr>
          <p:cNvPr id="7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itle Text"/>
          <p:cNvSpPr txBox="1"/>
          <p:nvPr>
            <p:ph type="title"/>
          </p:nvPr>
        </p:nvSpPr>
        <p:spPr>
          <a:xfrm>
            <a:off x="1792288" y="4800600"/>
            <a:ext cx="5486401" cy="566738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Title Text</a:t>
            </a:r>
          </a:p>
        </p:txBody>
      </p:sp>
      <p:sp>
        <p:nvSpPr>
          <p:cNvPr id="83" name="Picture Placeholder 2"/>
          <p:cNvSpPr/>
          <p:nvPr>
            <p:ph type="pic" sz="half" idx="21"/>
          </p:nvPr>
        </p:nvSpPr>
        <p:spPr>
          <a:xfrm>
            <a:off x="1792288" y="612775"/>
            <a:ext cx="5486401" cy="41148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/>
          </a:p>
        </p:txBody>
      </p:sp>
      <p:sp>
        <p:nvSpPr>
          <p:cNvPr id="84" name="Body Level One…"/>
          <p:cNvSpPr txBox="1"/>
          <p:nvPr>
            <p:ph type="body" sz="quarter" idx="1"/>
          </p:nvPr>
        </p:nvSpPr>
        <p:spPr>
          <a:xfrm>
            <a:off x="1792288" y="5367337"/>
            <a:ext cx="5486401" cy="804863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300"/>
              </a:spcBef>
              <a:buSzTx/>
              <a:buFontTx/>
              <a:buNone/>
              <a:defRPr sz="1400"/>
            </a:lvl1pPr>
            <a:lvl2pPr marL="0" indent="457200">
              <a:spcBef>
                <a:spcPts val="300"/>
              </a:spcBef>
              <a:buSzTx/>
              <a:buFontTx/>
              <a:buNone/>
              <a:defRPr sz="1400"/>
            </a:lvl2pPr>
            <a:lvl3pPr marL="0" indent="914400">
              <a:spcBef>
                <a:spcPts val="300"/>
              </a:spcBef>
              <a:buSzTx/>
              <a:buFontTx/>
              <a:buNone/>
              <a:defRPr sz="1400"/>
            </a:lvl3pPr>
            <a:lvl4pPr marL="0" indent="1371600">
              <a:spcBef>
                <a:spcPts val="300"/>
              </a:spcBef>
              <a:buSzTx/>
              <a:buFontTx/>
              <a:buNone/>
              <a:defRPr sz="1400"/>
            </a:lvl4pPr>
            <a:lvl5pPr marL="0" indent="1828800">
              <a:spcBef>
                <a:spcPts val="300"/>
              </a:spcBef>
              <a:buSzTx/>
              <a:buFontTx/>
              <a:buNone/>
              <a:defRPr sz="1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608965" y="92074"/>
            <a:ext cx="10961370" cy="15081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608965" y="1600200"/>
            <a:ext cx="10961370" cy="5257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8428176" y="6414760"/>
            <a:ext cx="258624" cy="248305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solidFill>
                  <a:srgbClr val="888888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transition xmlns:p14="http://schemas.microsoft.com/office/powerpoint/2010/main" spd="med" advClick="1"/>
  <p:txStyles>
    <p:titleStyle>
      <a:lvl1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9pPr>
    </p:titleStyle>
    <p:bodyStyle>
      <a:lvl1pPr marL="342900" marR="0" indent="-3429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1pPr>
      <a:lvl2pPr marL="783771" marR="0" indent="-326571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2pPr>
      <a:lvl3pPr marL="1219200" marR="0" indent="-3048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3pPr>
      <a:lvl4pPr marL="17373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4pPr>
      <a:lvl5pPr marL="21945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5pPr>
      <a:lvl6pPr marL="26517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6pPr>
      <a:lvl7pPr marL="31089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7pPr>
      <a:lvl8pPr marL="35661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8pPr>
      <a:lvl9pPr marL="40233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9pPr>
    </p:bodyStyle>
    <p:otherStyle>
      <a:lvl1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raw.githubusercontent.com/timothyxlu/CS229/master/project/src/data_sourcing/data_curated.csv" TargetMode="Externa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Rectangle 1"/>
          <p:cNvSpPr/>
          <p:nvPr/>
        </p:nvSpPr>
        <p:spPr>
          <a:xfrm>
            <a:off x="-1" y="0"/>
            <a:ext cx="164594" cy="6858000"/>
          </a:xfrm>
          <a:prstGeom prst="rect">
            <a:avLst/>
          </a:prstGeom>
          <a:solidFill>
            <a:srgbClr val="00B4D8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5" name="TextBox 2"/>
          <p:cNvSpPr txBox="1"/>
          <p:nvPr/>
        </p:nvSpPr>
        <p:spPr>
          <a:xfrm>
            <a:off x="1858872" y="1334662"/>
            <a:ext cx="8461556" cy="1005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3000">
                <a:solidFill>
                  <a:srgbClr val="F0F8FF"/>
                </a:solidFill>
                <a:latin typeface="Aptos Display"/>
                <a:ea typeface="Aptos Display"/>
                <a:cs typeface="Aptos Display"/>
                <a:sym typeface="Aptos Display"/>
              </a:defRPr>
            </a:lvl1pPr>
          </a:lstStyle>
          <a:p>
            <a:pPr/>
            <a:r>
              <a:t>Application of Machine Learning Methods to Evaluate Collectibles</a:t>
            </a:r>
          </a:p>
        </p:txBody>
      </p:sp>
      <p:sp>
        <p:nvSpPr>
          <p:cNvPr id="96" name="TextBox 3"/>
          <p:cNvSpPr txBox="1"/>
          <p:nvPr/>
        </p:nvSpPr>
        <p:spPr>
          <a:xfrm>
            <a:off x="456695" y="3126490"/>
            <a:ext cx="10607041" cy="878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spcBef>
                <a:spcPts val="1400"/>
              </a:spcBef>
              <a:defRPr sz="2000">
                <a:solidFill>
                  <a:srgbClr val="FFFFFF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Real curated Funko Pop! collectible metadata • Five-tier price classification</a:t>
            </a:r>
          </a:p>
          <a:p>
            <a:pPr>
              <a:spcBef>
                <a:spcPts val="1400"/>
              </a:spcBef>
              <a:defRPr sz="2000">
                <a:solidFill>
                  <a:srgbClr val="FFFFFF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UE24CS352A • Team 30 • Project ID 50</a:t>
            </a:r>
          </a:p>
        </p:txBody>
      </p:sp>
      <p:sp>
        <p:nvSpPr>
          <p:cNvPr id="97" name="TextBox 4"/>
          <p:cNvSpPr txBox="1"/>
          <p:nvPr/>
        </p:nvSpPr>
        <p:spPr>
          <a:xfrm>
            <a:off x="731519" y="6492240"/>
            <a:ext cx="2607356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900">
                <a:solidFill>
                  <a:srgbClr val="78A0B4"/>
                </a:solidFill>
              </a:defRPr>
            </a:lvl1pPr>
          </a:lstStyle>
          <a:p>
            <a:pPr/>
            <a:r>
              <a:t>TEAM 30  •  MACHINE LEARNING MINI-PROJECT  •  01</a:t>
            </a:r>
          </a:p>
        </p:txBody>
      </p:sp>
      <p:sp>
        <p:nvSpPr>
          <p:cNvPr id="98" name="REIA S - PES2UG24CS921 RITESH BABU REDDY - PES2UG24CS403"/>
          <p:cNvSpPr txBox="1"/>
          <p:nvPr/>
        </p:nvSpPr>
        <p:spPr>
          <a:xfrm>
            <a:off x="401103" y="4791318"/>
            <a:ext cx="3834107" cy="6251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>
                <a:solidFill>
                  <a:srgbClr val="FFFFFF"/>
                </a:solidFill>
              </a:defRPr>
            </a:pPr>
            <a:r>
              <a:t>REIA S - PES2UG24CS921</a:t>
            </a:r>
            <a:br/>
            <a:r>
              <a:t>RITESH BABU REDDY - PES2UG24CS403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Rectangle 1"/>
          <p:cNvSpPr/>
          <p:nvPr/>
        </p:nvSpPr>
        <p:spPr>
          <a:xfrm>
            <a:off x="-1" y="0"/>
            <a:ext cx="164594" cy="6858000"/>
          </a:xfrm>
          <a:prstGeom prst="rect">
            <a:avLst/>
          </a:prstGeom>
          <a:solidFill>
            <a:srgbClr val="00B4D8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1" name="TextBox 2"/>
          <p:cNvSpPr txBox="1"/>
          <p:nvPr/>
        </p:nvSpPr>
        <p:spPr>
          <a:xfrm>
            <a:off x="4079559" y="580167"/>
            <a:ext cx="4020181" cy="548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3000">
                <a:solidFill>
                  <a:srgbClr val="F0F8FF"/>
                </a:solidFill>
                <a:latin typeface="Aptos Display"/>
                <a:ea typeface="Aptos Display"/>
                <a:cs typeface="Aptos Display"/>
                <a:sym typeface="Aptos Display"/>
              </a:defRPr>
            </a:lvl1pPr>
          </a:lstStyle>
          <a:p>
            <a:pPr/>
            <a:r>
              <a:t>Problem &amp; Motivation</a:t>
            </a:r>
          </a:p>
        </p:txBody>
      </p:sp>
      <p:sp>
        <p:nvSpPr>
          <p:cNvPr id="102" name="TextBox 3"/>
          <p:cNvSpPr txBox="1"/>
          <p:nvPr/>
        </p:nvSpPr>
        <p:spPr>
          <a:xfrm>
            <a:off x="1010299" y="1481421"/>
            <a:ext cx="10607041" cy="4358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spcBef>
                <a:spcPts val="1200"/>
              </a:spcBef>
              <a:defRPr b="1" sz="1400">
                <a:solidFill>
                  <a:srgbClr val="FFFFFF"/>
                </a:solidFill>
                <a:latin typeface="Aptos Display"/>
                <a:ea typeface="Aptos Display"/>
                <a:cs typeface="Aptos Display"/>
                <a:sym typeface="Aptos Display"/>
              </a:defRPr>
            </a:pPr>
            <a:r>
              <a:t>The Problem</a:t>
            </a:r>
            <a:endParaRPr b="0"/>
          </a:p>
          <a:p>
            <a:pPr marL="457200" indent="-317500">
              <a:spcBef>
                <a:spcPts val="1200"/>
              </a:spcBef>
              <a:buSzPct val="100000"/>
              <a:buFont typeface="Times Roman"/>
              <a:buChar char="•"/>
              <a:defRPr sz="1400">
                <a:solidFill>
                  <a:srgbClr val="FFFFFF"/>
                </a:solidFill>
                <a:latin typeface="Aptos Display"/>
                <a:ea typeface="Aptos Display"/>
                <a:cs typeface="Aptos Display"/>
                <a:sym typeface="Aptos Display"/>
              </a:defRPr>
            </a:pPr>
            <a:r>
              <a:t>Collectible merchandise prices vary widely depending on product characteristics and market demand. </a:t>
            </a:r>
          </a:p>
          <a:p>
            <a:pPr marL="457200" indent="-317500">
              <a:spcBef>
                <a:spcPts val="1200"/>
              </a:spcBef>
              <a:buSzPct val="100000"/>
              <a:buFont typeface="Times Roman"/>
              <a:buChar char="•"/>
              <a:defRPr sz="1400">
                <a:solidFill>
                  <a:srgbClr val="FFFFFF"/>
                </a:solidFill>
                <a:latin typeface="Aptos Display"/>
                <a:ea typeface="Aptos Display"/>
                <a:cs typeface="Aptos Display"/>
                <a:sym typeface="Aptos Display"/>
              </a:defRPr>
            </a:pPr>
            <a:r>
              <a:t>Factors such as category, material, special editions, release date, and search popularity may influence market prices.</a:t>
            </a:r>
          </a:p>
          <a:p>
            <a:pPr marL="457200" indent="-317500">
              <a:spcBef>
                <a:spcPts val="1200"/>
              </a:spcBef>
              <a:buSzPct val="100000"/>
              <a:buFont typeface="Times Roman"/>
              <a:buChar char="•"/>
              <a:defRPr sz="1400">
                <a:solidFill>
                  <a:srgbClr val="FFFFFF"/>
                </a:solidFill>
                <a:latin typeface="Aptos Display"/>
                <a:ea typeface="Aptos Display"/>
                <a:cs typeface="Aptos Display"/>
                <a:sym typeface="Aptos Display"/>
              </a:defRPr>
            </a:pPr>
            <a:r>
              <a:t>Identifying the relative value of a collectible using product metadata alone is a challenging prediction task.</a:t>
            </a:r>
          </a:p>
          <a:p>
            <a:pPr>
              <a:spcBef>
                <a:spcPts val="1200"/>
              </a:spcBef>
              <a:defRPr b="1" sz="1400">
                <a:solidFill>
                  <a:srgbClr val="FFFFFF"/>
                </a:solidFill>
                <a:latin typeface="Aptos Display"/>
                <a:ea typeface="Aptos Display"/>
                <a:cs typeface="Aptos Display"/>
                <a:sym typeface="Aptos Display"/>
              </a:defRPr>
            </a:pPr>
            <a:r>
              <a:t>Project Objective</a:t>
            </a:r>
            <a:endParaRPr b="0"/>
          </a:p>
          <a:p>
            <a:pPr marL="457200" indent="-317500">
              <a:spcBef>
                <a:spcPts val="1200"/>
              </a:spcBef>
              <a:buSzPct val="100000"/>
              <a:buFont typeface="Times Roman"/>
              <a:buChar char="•"/>
              <a:defRPr sz="1400">
                <a:solidFill>
                  <a:srgbClr val="FFFFFF"/>
                </a:solidFill>
                <a:latin typeface="Aptos Display"/>
                <a:ea typeface="Aptos Display"/>
                <a:cs typeface="Aptos Display"/>
                <a:sym typeface="Aptos Display"/>
              </a:defRPr>
            </a:pPr>
            <a:r>
              <a:t>Apply machine learning classification algorithms to real-world collectible sales data.</a:t>
            </a:r>
          </a:p>
          <a:p>
            <a:pPr marL="457200" indent="-317500">
              <a:spcBef>
                <a:spcPts val="1200"/>
              </a:spcBef>
              <a:buSzPct val="100000"/>
              <a:buFont typeface="Times Roman"/>
              <a:buChar char="•"/>
              <a:defRPr sz="1400">
                <a:solidFill>
                  <a:srgbClr val="FFFFFF"/>
                </a:solidFill>
                <a:latin typeface="Aptos Display"/>
                <a:ea typeface="Aptos Display"/>
                <a:cs typeface="Aptos Display"/>
                <a:sym typeface="Aptos Display"/>
              </a:defRPr>
            </a:pPr>
            <a:r>
              <a:t>Categorise products into </a:t>
            </a:r>
            <a:r>
              <a:rPr b="1"/>
              <a:t>five relative price tiers</a:t>
            </a:r>
            <a:r>
              <a:t>, from lower-priced to higher-priced collectibles.</a:t>
            </a:r>
          </a:p>
          <a:p>
            <a:pPr marL="457200" indent="-317500">
              <a:spcBef>
                <a:spcPts val="1200"/>
              </a:spcBef>
              <a:buSzPct val="100000"/>
              <a:buFont typeface="Times Roman"/>
              <a:buChar char="•"/>
              <a:defRPr sz="1400">
                <a:solidFill>
                  <a:srgbClr val="FFFFFF"/>
                </a:solidFill>
                <a:latin typeface="Aptos Display"/>
                <a:ea typeface="Aptos Display"/>
                <a:cs typeface="Aptos Display"/>
                <a:sym typeface="Aptos Display"/>
              </a:defRPr>
            </a:pPr>
            <a:r>
              <a:t>Compare multiple models to determine which performs best on unseen data.</a:t>
            </a:r>
          </a:p>
          <a:p>
            <a:pPr>
              <a:spcBef>
                <a:spcPts val="1200"/>
              </a:spcBef>
              <a:defRPr b="1" sz="1400">
                <a:solidFill>
                  <a:srgbClr val="FFFFFF"/>
                </a:solidFill>
                <a:latin typeface="Aptos Display"/>
                <a:ea typeface="Aptos Display"/>
                <a:cs typeface="Aptos Display"/>
                <a:sym typeface="Aptos Display"/>
              </a:defRPr>
            </a:pPr>
            <a:r>
              <a:t>Why This Matters</a:t>
            </a:r>
            <a:endParaRPr b="0"/>
          </a:p>
          <a:p>
            <a:pPr marL="457200" indent="-317500">
              <a:spcBef>
                <a:spcPts val="1200"/>
              </a:spcBef>
              <a:buSzPct val="100000"/>
              <a:buFont typeface="Times Roman"/>
              <a:buChar char="•"/>
              <a:defRPr sz="1400">
                <a:solidFill>
                  <a:srgbClr val="FFFFFF"/>
                </a:solidFill>
                <a:latin typeface="Aptos Display"/>
                <a:ea typeface="Aptos Display"/>
                <a:cs typeface="Aptos Display"/>
                <a:sym typeface="Aptos Display"/>
              </a:defRPr>
            </a:pPr>
            <a:r>
              <a:t>Helps explore patterns in collectible merchandise pricing.</a:t>
            </a:r>
          </a:p>
          <a:p>
            <a:pPr marL="457200" indent="-317500">
              <a:spcBef>
                <a:spcPts val="1200"/>
              </a:spcBef>
              <a:buSzPct val="100000"/>
              <a:buFont typeface="Times Roman"/>
              <a:buChar char="•"/>
              <a:defRPr sz="1400">
                <a:solidFill>
                  <a:srgbClr val="FFFFFF"/>
                </a:solidFill>
                <a:latin typeface="Aptos Display"/>
                <a:ea typeface="Aptos Display"/>
                <a:cs typeface="Aptos Display"/>
                <a:sym typeface="Aptos Display"/>
              </a:defRPr>
            </a:pPr>
            <a:r>
              <a:t>Demonstrates how product metadata can support data-driven price analysis.</a:t>
            </a:r>
          </a:p>
          <a:p>
            <a:pPr marL="457200" indent="-317500">
              <a:spcBef>
                <a:spcPts val="1200"/>
              </a:spcBef>
              <a:buSzPct val="100000"/>
              <a:buFont typeface="Times Roman"/>
              <a:buChar char="•"/>
              <a:defRPr sz="1400">
                <a:solidFill>
                  <a:srgbClr val="FFFFFF"/>
                </a:solidFill>
                <a:latin typeface="Aptos Display"/>
                <a:ea typeface="Aptos Display"/>
                <a:cs typeface="Aptos Display"/>
                <a:sym typeface="Aptos Display"/>
              </a:defRPr>
            </a:pPr>
            <a:r>
              <a:t>Provides a comparative evaluation of machine learning models for a real-world dataset.</a:t>
            </a:r>
          </a:p>
        </p:txBody>
      </p:sp>
      <p:sp>
        <p:nvSpPr>
          <p:cNvPr id="103" name="TextBox 4"/>
          <p:cNvSpPr txBox="1"/>
          <p:nvPr/>
        </p:nvSpPr>
        <p:spPr>
          <a:xfrm>
            <a:off x="731519" y="6492240"/>
            <a:ext cx="2607356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900">
                <a:solidFill>
                  <a:srgbClr val="78A0B4"/>
                </a:solidFill>
              </a:defRPr>
            </a:lvl1pPr>
          </a:lstStyle>
          <a:p>
            <a:pPr/>
            <a:r>
              <a:t>TEAM 30  •  MACHINE LEARNING MINI-PROJECT  •  02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Rectangle 1"/>
          <p:cNvSpPr/>
          <p:nvPr/>
        </p:nvSpPr>
        <p:spPr>
          <a:xfrm>
            <a:off x="-1" y="0"/>
            <a:ext cx="164594" cy="6858000"/>
          </a:xfrm>
          <a:prstGeom prst="rect">
            <a:avLst/>
          </a:prstGeom>
          <a:solidFill>
            <a:srgbClr val="00B4D8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6" name="TextBox 2"/>
          <p:cNvSpPr txBox="1"/>
          <p:nvPr/>
        </p:nvSpPr>
        <p:spPr>
          <a:xfrm>
            <a:off x="685800" y="502919"/>
            <a:ext cx="1480615" cy="548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3000">
                <a:solidFill>
                  <a:srgbClr val="F0F8FF"/>
                </a:solidFill>
                <a:latin typeface="Aptos Display"/>
                <a:ea typeface="Aptos Display"/>
                <a:cs typeface="Aptos Display"/>
                <a:sym typeface="Aptos Display"/>
              </a:defRPr>
            </a:lvl1pPr>
          </a:lstStyle>
          <a:p>
            <a:pPr/>
            <a:r>
              <a:t>Dataset</a:t>
            </a:r>
          </a:p>
        </p:txBody>
      </p:sp>
      <p:sp>
        <p:nvSpPr>
          <p:cNvPr id="107" name="TextBox 3"/>
          <p:cNvSpPr txBox="1"/>
          <p:nvPr/>
        </p:nvSpPr>
        <p:spPr>
          <a:xfrm>
            <a:off x="868679" y="1645920"/>
            <a:ext cx="10607042" cy="2631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spcBef>
                <a:spcPts val="1400"/>
              </a:spcBef>
              <a:defRPr sz="2000">
                <a:solidFill>
                  <a:srgbClr val="DCE8F0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Source: original author's CS229 repository and data_curated.csv.</a:t>
            </a:r>
          </a:p>
          <a:p>
            <a:pPr>
              <a:spcBef>
                <a:spcPts val="1400"/>
              </a:spcBef>
              <a:defRPr sz="2000">
                <a:solidFill>
                  <a:srgbClr val="DCE8F0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359 unique products in our local cleaned run.</a:t>
            </a:r>
          </a:p>
          <a:p>
            <a:pPr>
              <a:spcBef>
                <a:spcPts val="1400"/>
              </a:spcBef>
              <a:defRPr sz="2000">
                <a:solidFill>
                  <a:srgbClr val="DCE8F0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Anime 198 • Marvel 69 • Ad Icons 44 • Disney 37 • Game of Thrones 11.</a:t>
            </a:r>
          </a:p>
          <a:p>
            <a:pPr>
              <a:spcBef>
                <a:spcPts val="1400"/>
              </a:spcBef>
              <a:defRPr sz="2000">
                <a:solidFill>
                  <a:srgbClr val="DCE8F0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Target field: average_sale_price; tiers derived from training-set quantiles.</a:t>
            </a:r>
          </a:p>
          <a:p>
            <a:pPr>
              <a:spcBef>
                <a:spcPts val="1400"/>
              </a:spcBef>
              <a:defRPr sz="2000">
                <a:solidFill>
                  <a:srgbClr val="DCE8F0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rPr u="sng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hlinkClick r:id="rId2" invalidUrl="" action="" tgtFrame="" tooltip="" history="1" highlightClick="0" endSnd="0"/>
              </a:rPr>
              <a:t>https://raw.githubusercontent.com/timothyxlu/CS229/master/project/src/data_sourcing/data_curated.csv</a:t>
            </a:r>
          </a:p>
        </p:txBody>
      </p:sp>
      <p:sp>
        <p:nvSpPr>
          <p:cNvPr id="108" name="TextBox 4"/>
          <p:cNvSpPr txBox="1"/>
          <p:nvPr/>
        </p:nvSpPr>
        <p:spPr>
          <a:xfrm>
            <a:off x="731519" y="6492240"/>
            <a:ext cx="2607356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900">
                <a:solidFill>
                  <a:srgbClr val="78A0B4"/>
                </a:solidFill>
              </a:defRPr>
            </a:lvl1pPr>
          </a:lstStyle>
          <a:p>
            <a:pPr/>
            <a:r>
              <a:t>TEAM 30  •  MACHINE LEARNING MINI-PROJECT  •  03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Rectangle 1"/>
          <p:cNvSpPr/>
          <p:nvPr/>
        </p:nvSpPr>
        <p:spPr>
          <a:xfrm>
            <a:off x="-1" y="0"/>
            <a:ext cx="164594" cy="6858000"/>
          </a:xfrm>
          <a:prstGeom prst="rect">
            <a:avLst/>
          </a:prstGeom>
          <a:solidFill>
            <a:srgbClr val="00B4D8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1" name="TextBox 2"/>
          <p:cNvSpPr txBox="1"/>
          <p:nvPr/>
        </p:nvSpPr>
        <p:spPr>
          <a:xfrm>
            <a:off x="685800" y="502919"/>
            <a:ext cx="5228107" cy="548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3000">
                <a:solidFill>
                  <a:srgbClr val="F0F8FF"/>
                </a:solidFill>
                <a:latin typeface="Aptos Display"/>
                <a:ea typeface="Aptos Display"/>
                <a:cs typeface="Aptos Display"/>
                <a:sym typeface="Aptos Display"/>
              </a:defRPr>
            </a:lvl1pPr>
          </a:lstStyle>
          <a:p>
            <a:pPr/>
            <a:r>
              <a:t>Data Preparation &amp; Features</a:t>
            </a:r>
          </a:p>
        </p:txBody>
      </p:sp>
      <p:sp>
        <p:nvSpPr>
          <p:cNvPr id="112" name="TextBox 4"/>
          <p:cNvSpPr txBox="1"/>
          <p:nvPr/>
        </p:nvSpPr>
        <p:spPr>
          <a:xfrm>
            <a:off x="731519" y="6492240"/>
            <a:ext cx="2607356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900">
                <a:solidFill>
                  <a:srgbClr val="78A0B4"/>
                </a:solidFill>
              </a:defRPr>
            </a:lvl1pPr>
          </a:lstStyle>
          <a:p>
            <a:pPr/>
            <a:r>
              <a:t>TEAM 30  •  MACHINE LEARNING MINI-PROJECT  •  04</a:t>
            </a:r>
          </a:p>
        </p:txBody>
      </p:sp>
      <p:pic>
        <p:nvPicPr>
          <p:cNvPr id="113" name="Screenshot 2026-10-15 at 8.35.51 AM.png" descr="Screenshot 2026-10-15 at 8.35.51 AM.png"/>
          <p:cNvPicPr>
            <a:picLocks noChangeAspect="1"/>
          </p:cNvPicPr>
          <p:nvPr/>
        </p:nvPicPr>
        <p:blipFill>
          <a:blip r:embed="rId2">
            <a:extLst/>
          </a:blip>
          <a:srcRect l="1069" t="3094" r="1069" b="3094"/>
          <a:stretch>
            <a:fillRect/>
          </a:stretch>
        </p:blipFill>
        <p:spPr>
          <a:xfrm>
            <a:off x="1207918" y="1856350"/>
            <a:ext cx="9420609" cy="31453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Rectangle 1"/>
          <p:cNvSpPr/>
          <p:nvPr/>
        </p:nvSpPr>
        <p:spPr>
          <a:xfrm>
            <a:off x="-1" y="0"/>
            <a:ext cx="164594" cy="6858000"/>
          </a:xfrm>
          <a:prstGeom prst="rect">
            <a:avLst/>
          </a:prstGeom>
          <a:solidFill>
            <a:srgbClr val="00B4D8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6" name="TextBox 2"/>
          <p:cNvSpPr txBox="1"/>
          <p:nvPr/>
        </p:nvSpPr>
        <p:spPr>
          <a:xfrm>
            <a:off x="685800" y="502919"/>
            <a:ext cx="3406637" cy="548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3000">
                <a:solidFill>
                  <a:srgbClr val="F0F8FF"/>
                </a:solidFill>
                <a:latin typeface="Aptos Display"/>
                <a:ea typeface="Aptos Display"/>
                <a:cs typeface="Aptos Display"/>
                <a:sym typeface="Aptos Display"/>
              </a:defRPr>
            </a:lvl1pPr>
          </a:lstStyle>
          <a:p>
            <a:pPr/>
            <a:r>
              <a:t>Models Compared</a:t>
            </a:r>
          </a:p>
        </p:txBody>
      </p:sp>
      <p:sp>
        <p:nvSpPr>
          <p:cNvPr id="117" name="TextBox 3"/>
          <p:cNvSpPr txBox="1"/>
          <p:nvPr/>
        </p:nvSpPr>
        <p:spPr>
          <a:xfrm>
            <a:off x="868679" y="1645920"/>
            <a:ext cx="10607042" cy="4231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spcBef>
                <a:spcPts val="1400"/>
              </a:spcBef>
              <a:defRPr sz="2000">
                <a:solidFill>
                  <a:srgbClr val="DCE8F0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Majority-class baseline:</a:t>
            </a:r>
          </a:p>
          <a:p>
            <a:pPr lvl="1" marL="581526" indent="-200526">
              <a:spcBef>
                <a:spcPts val="1400"/>
              </a:spcBef>
              <a:buSzPct val="100000"/>
              <a:buChar char="•"/>
              <a:defRPr sz="2000">
                <a:solidFill>
                  <a:srgbClr val="DCE8F0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Linear SVM</a:t>
            </a:r>
          </a:p>
          <a:p>
            <a:pPr lvl="1" marL="581526" indent="-200526">
              <a:spcBef>
                <a:spcPts val="1400"/>
              </a:spcBef>
              <a:buSzPct val="100000"/>
              <a:buChar char="•"/>
              <a:defRPr sz="2000">
                <a:solidFill>
                  <a:srgbClr val="DCE8F0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RBF SVM</a:t>
            </a:r>
          </a:p>
          <a:p>
            <a:pPr lvl="1" marL="581526" indent="-200526">
              <a:spcBef>
                <a:spcPts val="1400"/>
              </a:spcBef>
              <a:buSzPct val="100000"/>
              <a:buChar char="•"/>
              <a:defRPr sz="2000">
                <a:solidFill>
                  <a:srgbClr val="DCE8F0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Decision Tree</a:t>
            </a:r>
          </a:p>
          <a:p>
            <a:pPr lvl="1" marL="581526" indent="-200526">
              <a:spcBef>
                <a:spcPts val="1400"/>
              </a:spcBef>
              <a:buSzPct val="100000"/>
              <a:buChar char="•"/>
              <a:defRPr sz="2000">
                <a:solidFill>
                  <a:srgbClr val="DCE8F0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Bagged Trees</a:t>
            </a:r>
          </a:p>
          <a:p>
            <a:pPr lvl="1" marL="581526" indent="-200526">
              <a:spcBef>
                <a:spcPts val="1400"/>
              </a:spcBef>
              <a:buSzPct val="100000"/>
              <a:buChar char="•"/>
              <a:defRPr sz="2000">
                <a:solidFill>
                  <a:srgbClr val="DCE8F0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Random Forest</a:t>
            </a:r>
          </a:p>
          <a:p>
            <a:pPr>
              <a:spcBef>
                <a:spcPts val="1400"/>
              </a:spcBef>
              <a:defRPr sz="2000">
                <a:solidFill>
                  <a:srgbClr val="DCE8F0"/>
                </a:solidFill>
                <a:latin typeface="Aptos"/>
                <a:ea typeface="Aptos"/>
                <a:cs typeface="Aptos"/>
                <a:sym typeface="Aptos"/>
              </a:defRPr>
            </a:pPr>
          </a:p>
          <a:p>
            <a:pPr>
              <a:spcBef>
                <a:spcPts val="1400"/>
              </a:spcBef>
              <a:defRPr sz="2000">
                <a:solidFill>
                  <a:srgbClr val="DCE8F0"/>
                </a:solidFill>
                <a:latin typeface="Aptos"/>
                <a:ea typeface="Aptos"/>
                <a:cs typeface="Aptos"/>
                <a:sym typeface="Aptos"/>
              </a:defRPr>
            </a:pPr>
          </a:p>
          <a:p>
            <a:pPr>
              <a:spcBef>
                <a:spcPts val="1400"/>
              </a:spcBef>
              <a:defRPr>
                <a:solidFill>
                  <a:srgbClr val="DCE8F0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Evaluation: held-out test set of 90 products; accuracy, balanced accuracy, macro-F1 and weighted-F1.</a:t>
            </a:r>
          </a:p>
        </p:txBody>
      </p:sp>
      <p:sp>
        <p:nvSpPr>
          <p:cNvPr id="118" name="TextBox 4"/>
          <p:cNvSpPr txBox="1"/>
          <p:nvPr/>
        </p:nvSpPr>
        <p:spPr>
          <a:xfrm>
            <a:off x="731519" y="6492240"/>
            <a:ext cx="2607356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900">
                <a:solidFill>
                  <a:srgbClr val="78A0B4"/>
                </a:solidFill>
              </a:defRPr>
            </a:lvl1pPr>
          </a:lstStyle>
          <a:p>
            <a:pPr/>
            <a:r>
              <a:t>TEAM 30  •  MACHINE LEARNING MINI-PROJECT  •  05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Rectangle 1"/>
          <p:cNvSpPr/>
          <p:nvPr/>
        </p:nvSpPr>
        <p:spPr>
          <a:xfrm>
            <a:off x="-1" y="0"/>
            <a:ext cx="164594" cy="6858000"/>
          </a:xfrm>
          <a:prstGeom prst="rect">
            <a:avLst/>
          </a:prstGeom>
          <a:solidFill>
            <a:srgbClr val="00B4D8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1" name="TextBox 2"/>
          <p:cNvSpPr txBox="1"/>
          <p:nvPr/>
        </p:nvSpPr>
        <p:spPr>
          <a:xfrm>
            <a:off x="685800" y="502919"/>
            <a:ext cx="1480429" cy="548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3000">
                <a:solidFill>
                  <a:srgbClr val="F0F8FF"/>
                </a:solidFill>
                <a:latin typeface="Aptos Display"/>
                <a:ea typeface="Aptos Display"/>
                <a:cs typeface="Aptos Display"/>
                <a:sym typeface="Aptos Display"/>
              </a:defRPr>
            </a:lvl1pPr>
          </a:lstStyle>
          <a:p>
            <a:pPr/>
            <a:r>
              <a:t>Results</a:t>
            </a:r>
          </a:p>
        </p:txBody>
      </p:sp>
      <p:sp>
        <p:nvSpPr>
          <p:cNvPr id="122" name="TextBox 4"/>
          <p:cNvSpPr txBox="1"/>
          <p:nvPr/>
        </p:nvSpPr>
        <p:spPr>
          <a:xfrm>
            <a:off x="731519" y="6492240"/>
            <a:ext cx="2607356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900">
                <a:solidFill>
                  <a:srgbClr val="78A0B4"/>
                </a:solidFill>
              </a:defRPr>
            </a:lvl1pPr>
          </a:lstStyle>
          <a:p>
            <a:pPr/>
            <a:r>
              <a:t>TEAM 30  •  MACHINE LEARNING MINI-PROJECT  •  06</a:t>
            </a:r>
          </a:p>
        </p:txBody>
      </p:sp>
      <p:pic>
        <p:nvPicPr>
          <p:cNvPr id="123" name="Screenshot 2026-10-15 at 8.40.03 AM.png" descr="Screenshot 2026-10-15 at 8.40.03 AM.png"/>
          <p:cNvPicPr>
            <a:picLocks noChangeAspect="1"/>
          </p:cNvPicPr>
          <p:nvPr/>
        </p:nvPicPr>
        <p:blipFill>
          <a:blip r:embed="rId2">
            <a:extLst/>
          </a:blip>
          <a:srcRect l="0" t="11125" r="0" b="0"/>
          <a:stretch>
            <a:fillRect/>
          </a:stretch>
        </p:blipFill>
        <p:spPr>
          <a:xfrm>
            <a:off x="1371600" y="1725721"/>
            <a:ext cx="9436100" cy="3894029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Rectangle 1"/>
          <p:cNvSpPr/>
          <p:nvPr/>
        </p:nvSpPr>
        <p:spPr>
          <a:xfrm>
            <a:off x="-1" y="0"/>
            <a:ext cx="164594" cy="6858000"/>
          </a:xfrm>
          <a:prstGeom prst="rect">
            <a:avLst/>
          </a:prstGeom>
          <a:solidFill>
            <a:srgbClr val="00B4D8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6" name="TextBox 2"/>
          <p:cNvSpPr txBox="1"/>
          <p:nvPr/>
        </p:nvSpPr>
        <p:spPr>
          <a:xfrm>
            <a:off x="685800" y="502919"/>
            <a:ext cx="2694866" cy="548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3000">
                <a:solidFill>
                  <a:srgbClr val="F0F8FF"/>
                </a:solidFill>
                <a:latin typeface="Aptos Display"/>
                <a:ea typeface="Aptos Display"/>
                <a:cs typeface="Aptos Display"/>
                <a:sym typeface="Aptos Display"/>
              </a:defRPr>
            </a:lvl1pPr>
          </a:lstStyle>
          <a:p>
            <a:pPr/>
            <a:r>
              <a:t>Error Analysis</a:t>
            </a:r>
          </a:p>
        </p:txBody>
      </p:sp>
      <p:sp>
        <p:nvSpPr>
          <p:cNvPr id="127" name="TextBox 3"/>
          <p:cNvSpPr txBox="1"/>
          <p:nvPr/>
        </p:nvSpPr>
        <p:spPr>
          <a:xfrm>
            <a:off x="868679" y="1645920"/>
            <a:ext cx="4992089" cy="3418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spcBef>
                <a:spcPts val="1400"/>
              </a:spcBef>
              <a:defRPr sz="2000">
                <a:solidFill>
                  <a:srgbClr val="DCE8F0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RBF SVM correctly classified 34/90 test products.</a:t>
            </a:r>
          </a:p>
          <a:p>
            <a:pPr>
              <a:spcBef>
                <a:spcPts val="1400"/>
              </a:spcBef>
              <a:defRPr sz="2000">
                <a:solidFill>
                  <a:srgbClr val="DCE8F0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Tier 5 recall: 60.9%</a:t>
            </a:r>
          </a:p>
          <a:p>
            <a:pPr>
              <a:spcBef>
                <a:spcPts val="1400"/>
              </a:spcBef>
              <a:defRPr sz="2000">
                <a:solidFill>
                  <a:srgbClr val="DCE8F0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Tier 1 recall: 47.6%.</a:t>
            </a:r>
          </a:p>
          <a:p>
            <a:pPr>
              <a:spcBef>
                <a:spcPts val="1400"/>
              </a:spcBef>
              <a:defRPr sz="2000">
                <a:solidFill>
                  <a:srgbClr val="DCE8F0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Tier 3 recall: 21.4%.</a:t>
            </a:r>
          </a:p>
          <a:p>
            <a:pPr>
              <a:spcBef>
                <a:spcPts val="1400"/>
              </a:spcBef>
              <a:defRPr sz="2000">
                <a:solidFill>
                  <a:srgbClr val="DCE8F0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Tier 4 recall: 21.1%. </a:t>
            </a:r>
          </a:p>
          <a:p>
            <a:pPr>
              <a:spcBef>
                <a:spcPts val="1400"/>
              </a:spcBef>
              <a:defRPr sz="2000">
                <a:solidFill>
                  <a:srgbClr val="DCE8F0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Middle tiers are harder to separate; performance is modest.</a:t>
            </a:r>
          </a:p>
        </p:txBody>
      </p:sp>
      <p:sp>
        <p:nvSpPr>
          <p:cNvPr id="128" name="TextBox 4"/>
          <p:cNvSpPr txBox="1"/>
          <p:nvPr/>
        </p:nvSpPr>
        <p:spPr>
          <a:xfrm>
            <a:off x="731519" y="6492240"/>
            <a:ext cx="2607356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900">
                <a:solidFill>
                  <a:srgbClr val="78A0B4"/>
                </a:solidFill>
              </a:defRPr>
            </a:lvl1pPr>
          </a:lstStyle>
          <a:p>
            <a:pPr/>
            <a:r>
              <a:t>TEAM 30  •  MACHINE LEARNING MINI-PROJECT  •  07</a:t>
            </a:r>
          </a:p>
        </p:txBody>
      </p:sp>
      <p:pic>
        <p:nvPicPr>
          <p:cNvPr id="129" name="Screenshot 2026-10-15 at 8.41.30 AM.png" descr="Screenshot 2026-10-15 at 8.41.30 AM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264045" y="1136514"/>
            <a:ext cx="5638776" cy="458497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Rectangle 1"/>
          <p:cNvSpPr/>
          <p:nvPr/>
        </p:nvSpPr>
        <p:spPr>
          <a:xfrm>
            <a:off x="-1" y="0"/>
            <a:ext cx="164594" cy="6858000"/>
          </a:xfrm>
          <a:prstGeom prst="rect">
            <a:avLst/>
          </a:prstGeom>
          <a:solidFill>
            <a:srgbClr val="00B4D8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2" name="TextBox 2"/>
          <p:cNvSpPr txBox="1"/>
          <p:nvPr/>
        </p:nvSpPr>
        <p:spPr>
          <a:xfrm>
            <a:off x="685800" y="502919"/>
            <a:ext cx="1162681" cy="548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3000">
                <a:solidFill>
                  <a:srgbClr val="F0F8FF"/>
                </a:solidFill>
                <a:latin typeface="Aptos Display"/>
                <a:ea typeface="Aptos Display"/>
                <a:cs typeface="Aptos Display"/>
                <a:sym typeface="Aptos Display"/>
              </a:defRPr>
            </a:lvl1pPr>
          </a:lstStyle>
          <a:p>
            <a:pPr/>
            <a:r>
              <a:t>Demo</a:t>
            </a:r>
          </a:p>
        </p:txBody>
      </p:sp>
      <p:sp>
        <p:nvSpPr>
          <p:cNvPr id="133" name="TextBox 3"/>
          <p:cNvSpPr txBox="1"/>
          <p:nvPr/>
        </p:nvSpPr>
        <p:spPr>
          <a:xfrm>
            <a:off x="868679" y="1645920"/>
            <a:ext cx="10607042" cy="2834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spcBef>
                <a:spcPts val="1400"/>
              </a:spcBef>
              <a:defRPr sz="1600">
                <a:solidFill>
                  <a:srgbClr val="DCE8F0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rPr b="1" sz="1800"/>
              <a:t>Run</a:t>
            </a:r>
            <a:r>
              <a:t>: </a:t>
            </a:r>
          </a:p>
          <a:p>
            <a:pPr>
              <a:spcBef>
                <a:spcPts val="1400"/>
              </a:spcBef>
              <a:defRPr sz="1600">
                <a:solidFill>
                  <a:srgbClr val="DCE8F0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python -m src.predict --name "Funko Pop Animation Dragon Ball Z Beerus Metallic SDCC Figure 120" --category Anime --material Metallic --special-version "San Diego Comic Con”</a:t>
            </a:r>
          </a:p>
          <a:p>
            <a:pPr>
              <a:spcBef>
                <a:spcPts val="1400"/>
              </a:spcBef>
              <a:defRPr sz="1600">
                <a:solidFill>
                  <a:srgbClr val="DCE8F0"/>
                </a:solidFill>
                <a:latin typeface="Aptos"/>
                <a:ea typeface="Aptos"/>
                <a:cs typeface="Aptos"/>
                <a:sym typeface="Aptos"/>
              </a:defRPr>
            </a:pPr>
          </a:p>
          <a:p>
            <a:pPr>
              <a:spcBef>
                <a:spcPts val="1400"/>
              </a:spcBef>
              <a:defRPr sz="1600">
                <a:solidFill>
                  <a:srgbClr val="DCE8F0"/>
                </a:solidFill>
                <a:latin typeface="Aptos"/>
                <a:ea typeface="Aptos"/>
                <a:cs typeface="Aptos"/>
                <a:sym typeface="Aptos"/>
              </a:defRPr>
            </a:pPr>
          </a:p>
          <a:p>
            <a:pPr>
              <a:spcBef>
                <a:spcPts val="1400"/>
              </a:spcBef>
              <a:defRPr sz="2000">
                <a:solidFill>
                  <a:srgbClr val="DCE8F0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Observed output: predicted relative price tier 5/5.</a:t>
            </a:r>
          </a:p>
        </p:txBody>
      </p:sp>
      <p:sp>
        <p:nvSpPr>
          <p:cNvPr id="134" name="TextBox 4"/>
          <p:cNvSpPr txBox="1"/>
          <p:nvPr/>
        </p:nvSpPr>
        <p:spPr>
          <a:xfrm>
            <a:off x="731519" y="6492240"/>
            <a:ext cx="2607356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900">
                <a:solidFill>
                  <a:srgbClr val="78A0B4"/>
                </a:solidFill>
              </a:defRPr>
            </a:lvl1pPr>
          </a:lstStyle>
          <a:p>
            <a:pPr/>
            <a:r>
              <a:t>TEAM 30  •  MACHINE LEARNING MINI-PROJECT  •  08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Rectangle 1"/>
          <p:cNvSpPr/>
          <p:nvPr/>
        </p:nvSpPr>
        <p:spPr>
          <a:xfrm>
            <a:off x="-1" y="0"/>
            <a:ext cx="164594" cy="6858000"/>
          </a:xfrm>
          <a:prstGeom prst="rect">
            <a:avLst/>
          </a:prstGeom>
          <a:solidFill>
            <a:srgbClr val="00B4D8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7" name="TextBox 2"/>
          <p:cNvSpPr txBox="1"/>
          <p:nvPr/>
        </p:nvSpPr>
        <p:spPr>
          <a:xfrm>
            <a:off x="4845094" y="3154679"/>
            <a:ext cx="2489112" cy="548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b="1" sz="3000">
                <a:solidFill>
                  <a:srgbClr val="F0F8FF"/>
                </a:solidFill>
                <a:latin typeface="Aptos Display"/>
                <a:ea typeface="Aptos Display"/>
                <a:cs typeface="Aptos Display"/>
                <a:sym typeface="Aptos Display"/>
              </a:defRPr>
            </a:lvl1pPr>
          </a:lstStyle>
          <a:p>
            <a:pPr/>
            <a:r>
              <a:t>THANK YOU!</a:t>
            </a:r>
          </a:p>
        </p:txBody>
      </p:sp>
      <p:sp>
        <p:nvSpPr>
          <p:cNvPr id="138" name="TextBox 4"/>
          <p:cNvSpPr txBox="1"/>
          <p:nvPr/>
        </p:nvSpPr>
        <p:spPr>
          <a:xfrm>
            <a:off x="731519" y="6492240"/>
            <a:ext cx="2607356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900">
                <a:solidFill>
                  <a:srgbClr val="78A0B4"/>
                </a:solidFill>
              </a:defRPr>
            </a:lvl1pPr>
          </a:lstStyle>
          <a:p>
            <a:pPr/>
            <a:r>
              <a:t>TEAM 30  •  MACHINE LEARNING MINI-PROJECT  •  08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